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29F4DC-91F5-46BD-B989-97B9550BA1B6}">
  <a:tblStyle styleId="{5C29F4DC-91F5-46BD-B989-97B9550BA1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8bfec5a9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8bfec5a9b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8bfec5a9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8bfec5a9b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6.jp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hyperlink" Target="mailto:fr.marfull@duocuc.cl" TargetMode="External"/><Relationship Id="rId9" Type="http://schemas.openxmlformats.org/officeDocument/2006/relationships/image" Target="../media/image19.png"/><Relationship Id="rId5" Type="http://schemas.openxmlformats.org/officeDocument/2006/relationships/hyperlink" Target="mailto:fr.marfull@duocuc.cl" TargetMode="External"/><Relationship Id="rId6" Type="http://schemas.openxmlformats.org/officeDocument/2006/relationships/hyperlink" Target="mailto:pab.trejo@duocuc.cl" TargetMode="External"/><Relationship Id="rId7" Type="http://schemas.openxmlformats.org/officeDocument/2006/relationships/image" Target="../media/image16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05551" y="1456432"/>
            <a:ext cx="718089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CAFETERÍA DUCO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78993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Plataforma Digital de Gestión de Menú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3742432"/>
            <a:ext cx="7620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214812" y="4161532"/>
            <a:ext cx="37623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Proyecto </a:t>
            </a: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Capstone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Ingeniería en Informática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Duoc UC 202</a:t>
            </a: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214862" y="5525757"/>
            <a:ext cx="376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Francisco Marfull - Pablo Trejo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87716"/>
            <a:ext cx="5286375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-857250"/>
            <a:ext cx="476250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99385" y="1968716"/>
            <a:ext cx="483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Problema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2511641"/>
            <a:ext cx="4600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cafetería de Duoc UC carece de un sistema digital para consultar el menú, generando: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8850" y="20258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57275" y="3203528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52525" y="3216491"/>
            <a:ext cx="436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Pérdida de tiempo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largas filas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57275" y="3603578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52525" y="3616541"/>
            <a:ext cx="436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Congestión durante los horarios punta.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57275" y="4003628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4016591"/>
            <a:ext cx="4362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Dificultad de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decisión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 personas con restricciones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alimentarias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(vegetarianos, celíacos).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57275" y="4660853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52525" y="4673816"/>
            <a:ext cx="4362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Falta de transparencia en los precios y la disponibilidad diaria.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95200" y="528383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Contexto y Oportunidad</a:t>
            </a:r>
            <a:endParaRPr/>
          </a:p>
        </p:txBody>
      </p:sp>
      <p:pic>
        <p:nvPicPr>
          <p:cNvPr id="108" name="Google Shape;108;p14" title="WhatsApp Image 2026-06-05 at 15.49.41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6925" y="1587713"/>
            <a:ext cx="5286376" cy="3964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0" y="-857250"/>
            <a:ext cx="476250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95200" y="528383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Contexto y Oportunidad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538" y="1789266"/>
            <a:ext cx="5286375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48985" y="1885666"/>
            <a:ext cx="483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Solución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64000" y="2428591"/>
            <a:ext cx="4600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Desarrollar una plataforma web responsiva que permita a la comunidad Duoc UC: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5125" y="1942816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302125" y="316802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480000" y="3167625"/>
            <a:ext cx="404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Consultar en tiempo real el menú actualizado.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302125" y="3568066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480000" y="3594950"/>
            <a:ext cx="428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Revisar información nutricional y costos detallados.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302125" y="3968116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480000" y="3964275"/>
            <a:ext cx="442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Filtrar platos por categorías especiales y dietéticas.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302125" y="4368166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480000" y="4333600"/>
            <a:ext cx="432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Optimizar significativamente la experiencia de usuario y reducir los tiempos de espera.</a:t>
            </a:r>
            <a:endParaRPr/>
          </a:p>
        </p:txBody>
      </p:sp>
      <p:pic>
        <p:nvPicPr>
          <p:cNvPr id="127" name="Google Shape;127;p15" title="image_2026-06-05_12541676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7650" y="1789275"/>
            <a:ext cx="5874349" cy="408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14287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Plataforma Responsiva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2076450"/>
            <a:ext cx="52863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Desarrollar una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plataforma web responsiva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la cafetería de Duoc UC que permita a la comunidad institucional consultar en tiempo real el menú diario, sus precios, información nutricional y categorías especiales.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4440158"/>
            <a:ext cx="52863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propósito es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optimizar la experiencia de usuario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reducir tiempos de espera. El proyecto se realizará en un plazo de 18 semanas, </a:t>
            </a:r>
            <a:r>
              <a:rPr lang="en-US" sz="16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usando 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metodologías ágiles y </a:t>
            </a:r>
            <a:r>
              <a:rPr lang="en-US" sz="16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prácticas 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sólidas de ingeniería de software.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954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n with blank screen smartphone (proporcionado por Getty Images)" id="137" name="Google Shape;13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0200" y="1495424"/>
            <a:ext cx="6029399" cy="43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/>
        </p:nvSpPr>
        <p:spPr>
          <a:xfrm>
            <a:off x="571500" y="518583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Modelo de Datos</a:t>
            </a:r>
            <a:endParaRPr/>
          </a:p>
        </p:txBody>
      </p:sp>
      <p:pic>
        <p:nvPicPr>
          <p:cNvPr id="143" name="Google Shape;143;p17" title="supabase-schema-uilnpkauvsyvbcgazhi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550" y="1465175"/>
            <a:ext cx="10644650" cy="509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240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240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title="supa.jpg"/>
          <p:cNvPicPr preferRelativeResize="0"/>
          <p:nvPr/>
        </p:nvPicPr>
        <p:blipFill rotWithShape="1">
          <a:blip r:embed="rId5">
            <a:alphaModFix/>
          </a:blip>
          <a:srcRect b="5285" l="0" r="0" t="5285"/>
          <a:stretch/>
        </p:blipFill>
        <p:spPr>
          <a:xfrm>
            <a:off x="8191500" y="18240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0" y="-857250"/>
            <a:ext cx="47625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485775" y="4157662"/>
            <a:ext cx="360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Frontend — React + Vite 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4633912"/>
            <a:ext cx="3429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pages/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vistas de la app (Login, Registro, Home, Reservas, Admin)</a:t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components/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— elementos reutilizables (Navbar, Chatbot)</a:t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context/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estado global de autenticación (AuthContext, useAuth)</a:t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services/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conexión con Supabase (supabaseClient)</a:t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4295775" y="4157662"/>
            <a:ext cx="360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IA — GitHub Models 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381500" y="4633912"/>
            <a:ext cx="3429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Chatbot flotante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integrado en todas las páginas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Usa el modelo gpt-4o-mini vía API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b="1"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con contexto real del casino (horarios, reservas, menú)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8105775" y="4157662"/>
            <a:ext cx="360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 — Supabase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191500" y="4633912"/>
            <a:ext cx="3429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Django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— registro, login y recuperación de contraseña con tokens JWT</a:t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 de datos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6 tablas relacionales con claves foráneas</a:t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Trigger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— sincroniza automáticamente cada nuevo usuario de Auth con la tabla public.usuarios</a:t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RLS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— Row Level Security como capa de seguridad sobre los datos</a:t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8240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title="chatbot.png"/>
          <p:cNvPicPr preferRelativeResize="0"/>
          <p:nvPr/>
        </p:nvPicPr>
        <p:blipFill rotWithShape="1">
          <a:blip r:embed="rId8">
            <a:alphaModFix/>
          </a:blip>
          <a:srcRect b="0" l="5197" r="5206" t="0"/>
          <a:stretch/>
        </p:blipFill>
        <p:spPr>
          <a:xfrm>
            <a:off x="4381500" y="1824037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295200" y="700213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Arquitectura del Sistema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4239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471487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Demostración de la Plataforma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476500"/>
            <a:ext cx="5715000" cy="104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20"/>
          <p:cNvGraphicFramePr/>
          <p:nvPr/>
        </p:nvGraphicFramePr>
        <p:xfrm>
          <a:off x="464100" y="15953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{5C29F4DC-91F5-46BD-B989-97B9550BA1B6}</a:tableStyleId>
              </a:tblPr>
              <a:tblGrid>
                <a:gridCol w="2762250"/>
                <a:gridCol w="6629400"/>
                <a:gridCol w="1657350"/>
              </a:tblGrid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Funcionalidad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Descripción Técnica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Autenticación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Registro e inicio de sesión con correo y contraseña mediante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supabase.auth</a:t>
                      </a: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, con tokens JWT y recuperación de contraseña vía email. 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Sincronización de usuarios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Trigger PostgreSQL que propaga automáticamente cada nuevo usuario de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auth.users</a:t>
                      </a: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 a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public.usuarios</a:t>
                      </a: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 con rol por defecto. 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Sistema de Reservas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Creación de reservas en dos transacciones: inserción en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reservas</a:t>
                      </a: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 y en tabla intermedia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reserva_platos</a:t>
                      </a: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 con plato y cantidad. 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Chatbot con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Integración con GitHub Models (gpt-4o-mini) con system prompt contextualizado al casino y historial de conversación.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Panel de administración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Formulario de alta de platos con validación client-side e inserción directa a Supabase con retroalimentación visual. 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Historial y cancelación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Consulta con join entre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reservas</a:t>
                      </a: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reserva_platos</a:t>
                      </a: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 y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platos</a:t>
                      </a: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. Permite cancelar reservas en estado </a:t>
                      </a:r>
                      <a:r>
                        <a:rPr lang="en-US" sz="1100">
                          <a:solidFill>
                            <a:srgbClr val="18803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pendiente</a:t>
                      </a:r>
                      <a:r>
                        <a:rPr lang="en-US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. 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20"/>
          <p:cNvSpPr/>
          <p:nvPr/>
        </p:nvSpPr>
        <p:spPr>
          <a:xfrm>
            <a:off x="571500" y="214788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333750" y="2147887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9963150" y="214788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71500" y="273843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333750" y="2738437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9963150" y="273843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71500" y="332898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333750" y="3328987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9963150" y="332898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71500" y="391953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333750" y="3919537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9963150" y="391953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71500" y="451008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333750" y="4510087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9963150" y="451008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71500" y="510063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333750" y="5100637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9963150" y="510063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71500" y="569118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333750" y="5691187"/>
            <a:ext cx="6629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9963150" y="569118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67627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Funcionalidades Implementadas</a:t>
            </a:r>
            <a:endParaRPr b="1" sz="3000">
              <a:solidFill>
                <a:srgbClr val="1D4E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D4E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476500"/>
            <a:ext cx="5715000" cy="104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" name="Google Shape;200;p21"/>
          <p:cNvGraphicFramePr/>
          <p:nvPr/>
        </p:nvGraphicFramePr>
        <p:xfrm>
          <a:off x="571500" y="1628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{5C29F4DC-91F5-46BD-B989-97B9550BA1B6}</a:tableStyleId>
              </a:tblPr>
              <a:tblGrid>
                <a:gridCol w="2762250"/>
                <a:gridCol w="6629400"/>
                <a:gridCol w="1657350"/>
              </a:tblGrid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Nueva Funcionalidad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Descripción Técnica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Notificaciones Push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Alertas automáticas cuando se publican nuevos platos o cambios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 Móvil Nativa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Desarrollo utilizando React Native para tiendas iOS y Android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Pagos Integrados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Integración con pasarelas (WebPay/Khipu) para compras online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Análisis de Datos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interno con estadísticas de consumo para administración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Gestión de Favoritos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Perfil de usuario que permite guardar platos de preferencia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21"/>
          <p:cNvSpPr/>
          <p:nvPr/>
        </p:nvSpPr>
        <p:spPr>
          <a:xfrm>
            <a:off x="571500" y="2147887"/>
            <a:ext cx="276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333750" y="2147887"/>
            <a:ext cx="662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9963150" y="2147887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2738437"/>
            <a:ext cx="276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333750" y="2738437"/>
            <a:ext cx="662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9963150" y="2738437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71500" y="3328987"/>
            <a:ext cx="276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333750" y="3328987"/>
            <a:ext cx="662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9963150" y="3328987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1500" y="3919537"/>
            <a:ext cx="276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3333750" y="3919537"/>
            <a:ext cx="662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9963150" y="3919537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71500" y="4510087"/>
            <a:ext cx="276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333750" y="4510087"/>
            <a:ext cx="662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9963150" y="4510087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71500" y="5100637"/>
            <a:ext cx="276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333750" y="5100637"/>
            <a:ext cx="662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9963150" y="5100637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5691187"/>
            <a:ext cx="2762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333750" y="5691187"/>
            <a:ext cx="6629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9963150" y="5691187"/>
            <a:ext cx="1657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67627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Próximos pasos</a:t>
            </a:r>
            <a:endParaRPr b="1" sz="3000">
              <a:solidFill>
                <a:srgbClr val="1D4ED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D4ED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375" y="3920596"/>
            <a:ext cx="619125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295275" y="805392"/>
            <a:ext cx="116016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¡MUCHAS GRACIAS!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524500" y="2119842"/>
            <a:ext cx="1143000" cy="47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295275" y="2453217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Cafetería Duco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316759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Digitalizando la experiencia gastronómica de Duoc UC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3486150" y="4311121"/>
            <a:ext cx="522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 u="sng">
                <a:solidFill>
                  <a:schemeClr val="hlink"/>
                </a:solidFill>
                <a:latin typeface="Inter SemiBold"/>
                <a:ea typeface="Inter SemiBold"/>
                <a:cs typeface="Inter SemiBold"/>
                <a:sym typeface="Inter SemiBold"/>
                <a:hlinkClick r:id="rId4"/>
              </a:rPr>
              <a:t>fr.marfull</a:t>
            </a:r>
            <a:r>
              <a:rPr b="1" i="0" lang="en-US" sz="1650" u="sng" cap="none" strike="noStrike">
                <a:solidFill>
                  <a:schemeClr val="hlink"/>
                </a:solidFill>
                <a:latin typeface="Inter SemiBold"/>
                <a:ea typeface="Inter SemiBold"/>
                <a:cs typeface="Inter SemiBold"/>
                <a:sym typeface="Inter SemiBold"/>
                <a:hlinkClick r:id="rId5"/>
              </a:rPr>
              <a:t>@duocuc.cl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&amp; </a:t>
            </a:r>
            <a:r>
              <a:rPr b="1" i="0" lang="en-US" sz="1650" u="sng" cap="none" strike="noStrike">
                <a:solidFill>
                  <a:schemeClr val="hlink"/>
                </a:solidFill>
                <a:latin typeface="Inter SemiBold"/>
                <a:ea typeface="Inter SemiBold"/>
                <a:cs typeface="Inter SemiBold"/>
                <a:sym typeface="Inter SemiBold"/>
                <a:hlinkClick r:id="rId6"/>
              </a:rPr>
              <a:t>pab.trejo@duocuc.cl</a:t>
            </a:r>
            <a:r>
              <a:rPr b="1" i="0" lang="en-US" sz="165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3486150" y="4758796"/>
            <a:ext cx="458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github.com/BLipax/Proyecto-Capstone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3486150" y="5225521"/>
            <a:ext cx="5325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https://github.com/BLipax/Proyecto-Capstone</a:t>
            </a:r>
            <a:endParaRPr/>
          </a:p>
        </p:txBody>
      </p:sp>
      <p:pic>
        <p:nvPicPr>
          <p:cNvPr descr="image.png" id="235" name="Google Shape;23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6150" y="4311121"/>
            <a:ext cx="3810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6150" y="4758796"/>
            <a:ext cx="381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86150" y="5225521"/>
            <a:ext cx="3810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